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B6347-798A-2C40-BF17-32DCE0B78C28}" v="5" dt="2026-06-16T14:55:31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58"/>
  </p:normalViewPr>
  <p:slideViewPr>
    <p:cSldViewPr snapToGrid="0" snapToObjects="1">
      <p:cViewPr varScale="1">
        <p:scale>
          <a:sx n="114" d="100"/>
          <a:sy n="114" d="100"/>
        </p:scale>
        <p:origin x="192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gjun Ge" userId="bb6e7122f441ffbb" providerId="LiveId" clId="{2E2902A1-BFF5-5B61-8F96-B104EB334E8B}"/>
    <pc:docChg chg="modSld">
      <pc:chgData name="Mengjun Ge" userId="bb6e7122f441ffbb" providerId="LiveId" clId="{2E2902A1-BFF5-5B61-8F96-B104EB334E8B}" dt="2026-06-16T16:30:20.895" v="24" actId="255"/>
      <pc:docMkLst>
        <pc:docMk/>
      </pc:docMkLst>
      <pc:sldChg chg="modSp mod">
        <pc:chgData name="Mengjun Ge" userId="bb6e7122f441ffbb" providerId="LiveId" clId="{2E2902A1-BFF5-5B61-8F96-B104EB334E8B}" dt="2026-06-16T16:30:20.895" v="24" actId="255"/>
        <pc:sldMkLst>
          <pc:docMk/>
          <pc:sldMk cId="0" sldId="256"/>
        </pc:sldMkLst>
        <pc:spChg chg="mod">
          <ac:chgData name="Mengjun Ge" userId="bb6e7122f441ffbb" providerId="LiveId" clId="{2E2902A1-BFF5-5B61-8F96-B104EB334E8B}" dt="2026-06-16T16:30:00.921" v="20" actId="255"/>
          <ac:spMkLst>
            <pc:docMk/>
            <pc:sldMk cId="0" sldId="256"/>
            <ac:spMk id="2" creationId="{00000000-0000-0000-0000-000000000000}"/>
          </ac:spMkLst>
        </pc:spChg>
        <pc:spChg chg="mod">
          <ac:chgData name="Mengjun Ge" userId="bb6e7122f441ffbb" providerId="LiveId" clId="{2E2902A1-BFF5-5B61-8F96-B104EB334E8B}" dt="2026-06-16T16:30:10.097" v="2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engjun Ge" userId="bb6e7122f441ffbb" providerId="LiveId" clId="{2E2902A1-BFF5-5B61-8F96-B104EB334E8B}" dt="2026-06-16T16:30:14.985" v="23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Mengjun Ge" userId="bb6e7122f441ffbb" providerId="LiveId" clId="{2E2902A1-BFF5-5B61-8F96-B104EB334E8B}" dt="2026-06-16T16:30:20.895" v="24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Mengjun Ge" userId="bb6e7122f441ffbb" providerId="LiveId" clId="{2E2902A1-BFF5-5B61-8F96-B104EB334E8B}" dt="2026-06-16T16:28:32.508" v="4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Mengjun Ge" userId="bb6e7122f441ffbb" providerId="LiveId" clId="{2E2902A1-BFF5-5B61-8F96-B104EB334E8B}" dt="2026-06-16T16:28:28.118" v="3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Mengjun Ge" userId="bb6e7122f441ffbb" providerId="LiveId" clId="{2E2902A1-BFF5-5B61-8F96-B104EB334E8B}" dt="2026-06-16T16:28:49.625" v="6" actId="255"/>
          <ac:spMkLst>
            <pc:docMk/>
            <pc:sldMk cId="0" sldId="256"/>
            <ac:spMk id="18" creationId="{00000000-0000-0000-0000-000000000000}"/>
          </ac:spMkLst>
        </pc:spChg>
        <pc:spChg chg="mod">
          <ac:chgData name="Mengjun Ge" userId="bb6e7122f441ffbb" providerId="LiveId" clId="{2E2902A1-BFF5-5B61-8F96-B104EB334E8B}" dt="2026-06-16T16:28:54.516" v="7" actId="25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Mengjun Ge" userId="bb6e7122f441ffbb" providerId="LiveId" clId="{2E2902A1-BFF5-5B61-8F96-B104EB334E8B}" dt="2026-06-16T16:28:05.973" v="0" actId="2711"/>
          <ac:spMkLst>
            <pc:docMk/>
            <pc:sldMk cId="0" sldId="256"/>
            <ac:spMk id="42" creationId="{3B6E7B42-FE45-DED6-BADB-D905BAC6FCC3}"/>
          </ac:spMkLst>
        </pc:spChg>
        <pc:spChg chg="mod">
          <ac:chgData name="Mengjun Ge" userId="bb6e7122f441ffbb" providerId="LiveId" clId="{2E2902A1-BFF5-5B61-8F96-B104EB334E8B}" dt="2026-06-16T16:28:44.487" v="5" actId="255"/>
          <ac:spMkLst>
            <pc:docMk/>
            <pc:sldMk cId="0" sldId="256"/>
            <ac:spMk id="45" creationId="{19EDD063-B57B-07AA-78E8-E265A1CE1CDE}"/>
          </ac:spMkLst>
        </pc:spChg>
        <pc:spChg chg="mod">
          <ac:chgData name="Mengjun Ge" userId="bb6e7122f441ffbb" providerId="LiveId" clId="{2E2902A1-BFF5-5B61-8F96-B104EB334E8B}" dt="2026-06-16T16:28:05.973" v="0" actId="2711"/>
          <ac:spMkLst>
            <pc:docMk/>
            <pc:sldMk cId="0" sldId="256"/>
            <ac:spMk id="51" creationId="{2405FA89-BDAB-B6C0-2E61-B1562FB3BDEB}"/>
          </ac:spMkLst>
        </pc:spChg>
        <pc:spChg chg="mod">
          <ac:chgData name="Mengjun Ge" userId="bb6e7122f441ffbb" providerId="LiveId" clId="{2E2902A1-BFF5-5B61-8F96-B104EB334E8B}" dt="2026-06-16T16:28:59.975" v="8" actId="255"/>
          <ac:spMkLst>
            <pc:docMk/>
            <pc:sldMk cId="0" sldId="256"/>
            <ac:spMk id="56" creationId="{9FDD2496-7F32-D50B-45C7-9AFB64FCDFB5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35787"/>
            <a:ext cx="1645920" cy="914400"/>
          </a:xfrm>
          <a:prstGeom prst="roundRect">
            <a:avLst/>
          </a:prstGeom>
          <a:solidFill>
            <a:srgbClr val="A0A0A0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E1E1E"/>
                </a:solidFill>
                <a:latin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Severe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lood</a:t>
            </a:r>
          </a:p>
        </p:txBody>
      </p:sp>
      <p:sp>
        <p:nvSpPr>
          <p:cNvPr id="3" name="Oval 2"/>
          <p:cNvSpPr/>
          <p:nvPr/>
        </p:nvSpPr>
        <p:spPr>
          <a:xfrm>
            <a:off x="3663688" y="2572677"/>
            <a:ext cx="1645920" cy="1645920"/>
          </a:xfrm>
          <a:prstGeom prst="ellipse">
            <a:avLst/>
          </a:prstGeom>
          <a:solidFill>
            <a:srgbClr val="B4B4B4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82828"/>
                </a:solidFill>
                <a:latin typeface="Arial"/>
              </a:defRPr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Step 1:  Substance use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6547449" y="2494430"/>
            <a:ext cx="1748881" cy="1748881"/>
          </a:xfrm>
          <a:prstGeom prst="ellipse">
            <a:avLst/>
          </a:prstGeom>
          <a:solidFill>
            <a:srgbClr val="B4B4B4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82828"/>
                </a:solidFill>
                <a:latin typeface="Arial"/>
              </a:defRPr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Step 2:  Overdose 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9393610" y="2572677"/>
            <a:ext cx="1645920" cy="1645920"/>
          </a:xfrm>
          <a:prstGeom prst="ellipse">
            <a:avLst/>
          </a:prstGeom>
          <a:solidFill>
            <a:srgbClr val="B4B4B4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82828"/>
                </a:solidFill>
                <a:latin typeface="Arial"/>
              </a:defRPr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Step3:  O</a:t>
            </a: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verdose</a:t>
            </a:r>
            <a:b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eath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6748" y="4959732"/>
            <a:ext cx="3895662" cy="1438870"/>
          </a:xfrm>
          <a:prstGeom prst="rect">
            <a:avLst/>
          </a:prstGeom>
          <a:solidFill>
            <a:srgbClr val="FFFFFF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Arial"/>
              </a:defRPr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Mechanisms: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Arial"/>
              </a:defRPr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• Decreased access to treatment services</a:t>
            </a:r>
            <a:endParaRPr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• Decreased access to recovery services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• Increased trauma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• Stigma around help-seeking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02692" y="365760"/>
            <a:ext cx="8036831" cy="1005839"/>
          </a:xfrm>
          <a:prstGeom prst="rect">
            <a:avLst/>
          </a:prstGeom>
          <a:solidFill>
            <a:srgbClr val="FFFFFF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Arial"/>
              </a:defRPr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Mechanisms: </a:t>
            </a:r>
            <a:endParaRPr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Increased Instability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Arial"/>
              </a:defRPr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• Decreased access to harm reduction services</a:t>
            </a:r>
          </a:p>
        </p:txBody>
      </p:sp>
      <p:cxnSp>
        <p:nvCxnSpPr>
          <p:cNvPr id="8" name="Connector 7"/>
          <p:cNvCxnSpPr>
            <a:cxnSpLocks/>
            <a:stCxn id="2" idx="2"/>
          </p:cNvCxnSpPr>
          <p:nvPr/>
        </p:nvCxnSpPr>
        <p:spPr>
          <a:xfrm>
            <a:off x="1280160" y="3650187"/>
            <a:ext cx="0" cy="2019093"/>
          </a:xfrm>
          <a:prstGeom prst="line">
            <a:avLst/>
          </a:prstGeom>
          <a:ln w="317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  <a:endCxn id="6" idx="1"/>
          </p:cNvCxnSpPr>
          <p:nvPr/>
        </p:nvCxnSpPr>
        <p:spPr>
          <a:xfrm>
            <a:off x="1280160" y="5669280"/>
            <a:ext cx="1266588" cy="9887"/>
          </a:xfrm>
          <a:prstGeom prst="line">
            <a:avLst/>
          </a:prstGeom>
          <a:ln w="31750">
            <a:solidFill>
              <a:srgbClr val="3C3C3C"/>
            </a:solidFill>
            <a:tailEnd type="arrow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  <a:stCxn id="2" idx="0"/>
          </p:cNvCxnSpPr>
          <p:nvPr/>
        </p:nvCxnSpPr>
        <p:spPr>
          <a:xfrm flipV="1">
            <a:off x="1280160" y="822960"/>
            <a:ext cx="0" cy="1912827"/>
          </a:xfrm>
          <a:prstGeom prst="line">
            <a:avLst/>
          </a:prstGeom>
          <a:ln w="317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</p:cNvCxnSpPr>
          <p:nvPr/>
        </p:nvCxnSpPr>
        <p:spPr>
          <a:xfrm>
            <a:off x="1280160" y="822960"/>
            <a:ext cx="1722532" cy="0"/>
          </a:xfrm>
          <a:prstGeom prst="line">
            <a:avLst/>
          </a:prstGeom>
          <a:ln w="31750">
            <a:solidFill>
              <a:srgbClr val="3C3C3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>
            <a:off x="4297680" y="4206240"/>
            <a:ext cx="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endCxn id="4" idx="0"/>
          </p:cNvCxnSpPr>
          <p:nvPr/>
        </p:nvCxnSpPr>
        <p:spPr>
          <a:xfrm>
            <a:off x="7421890" y="1371598"/>
            <a:ext cx="0" cy="1122832"/>
          </a:xfrm>
          <a:prstGeom prst="line">
            <a:avLst/>
          </a:prstGeom>
          <a:ln w="31750">
            <a:solidFill>
              <a:srgbClr val="3C3C3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endCxn id="5" idx="0"/>
          </p:cNvCxnSpPr>
          <p:nvPr/>
        </p:nvCxnSpPr>
        <p:spPr>
          <a:xfrm>
            <a:off x="10216570" y="1383956"/>
            <a:ext cx="0" cy="1188721"/>
          </a:xfrm>
          <a:prstGeom prst="line">
            <a:avLst/>
          </a:prstGeom>
          <a:ln w="31750">
            <a:solidFill>
              <a:srgbClr val="3C3C3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87135" y="1630259"/>
            <a:ext cx="1981200" cy="6924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87878"/>
                </a:solidFill>
                <a:latin typeface="Arial"/>
              </a:defRPr>
            </a:pPr>
            <a:r>
              <a:rPr sz="1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Pathway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i="1">
                <a:solidFill>
                  <a:srgbClr val="787878"/>
                </a:solidFill>
                <a:latin typeface="Arial"/>
              </a:defRPr>
            </a:pPr>
            <a:r>
              <a:rPr lang="en-US" sz="1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Patterns of use carry a higher risk of overdose </a:t>
            </a:r>
            <a:endParaRPr sz="1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19535" y="1630259"/>
            <a:ext cx="2091999" cy="6924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87878"/>
                </a:solidFill>
                <a:latin typeface="Arial"/>
              </a:defRPr>
            </a:pPr>
            <a:r>
              <a:rPr sz="1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Pathway 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i="1">
                <a:solidFill>
                  <a:srgbClr val="787878"/>
                </a:solidFill>
                <a:latin typeface="Arial"/>
              </a:defRPr>
            </a:pPr>
            <a:r>
              <a:rPr lang="en-US" sz="1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Overdosing carries a higher risk of death</a:t>
            </a:r>
            <a:endParaRPr sz="1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3FDAC6-DDE3-7499-B7AE-042768EDF1A2}"/>
              </a:ext>
            </a:extLst>
          </p:cNvPr>
          <p:cNvCxnSpPr>
            <a:cxnSpLocks/>
            <a:stCxn id="6" idx="0"/>
            <a:endCxn id="3" idx="4"/>
          </p:cNvCxnSpPr>
          <p:nvPr/>
        </p:nvCxnSpPr>
        <p:spPr>
          <a:xfrm flipH="1" flipV="1">
            <a:off x="4486648" y="4218597"/>
            <a:ext cx="7931" cy="741135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ight Arrow 41">
            <a:extLst>
              <a:ext uri="{FF2B5EF4-FFF2-40B4-BE49-F238E27FC236}">
                <a16:creationId xmlns:a16="http://schemas.microsoft.com/office/drawing/2014/main" id="{3B6E7B42-FE45-DED6-BADB-D905BAC6FCC3}"/>
              </a:ext>
            </a:extLst>
          </p:cNvPr>
          <p:cNvSpPr/>
          <p:nvPr/>
        </p:nvSpPr>
        <p:spPr>
          <a:xfrm>
            <a:off x="8406305" y="3143559"/>
            <a:ext cx="877329" cy="41148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rial"/>
              </a:defRPr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Connector 14">
            <a:extLst>
              <a:ext uri="{FF2B5EF4-FFF2-40B4-BE49-F238E27FC236}">
                <a16:creationId xmlns:a16="http://schemas.microsoft.com/office/drawing/2014/main" id="{7572448F-3357-CA2C-3854-ABAE16CDBBD6}"/>
              </a:ext>
            </a:extLst>
          </p:cNvPr>
          <p:cNvCxnSpPr>
            <a:cxnSpLocks/>
          </p:cNvCxnSpPr>
          <p:nvPr/>
        </p:nvCxnSpPr>
        <p:spPr>
          <a:xfrm>
            <a:off x="4520100" y="1371598"/>
            <a:ext cx="1" cy="1188721"/>
          </a:xfrm>
          <a:prstGeom prst="line">
            <a:avLst/>
          </a:prstGeom>
          <a:ln w="31750">
            <a:solidFill>
              <a:srgbClr val="3C3C3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9EDD063-B57B-07AA-78E8-E265A1CE1CDE}"/>
              </a:ext>
            </a:extLst>
          </p:cNvPr>
          <p:cNvSpPr txBox="1"/>
          <p:nvPr/>
        </p:nvSpPr>
        <p:spPr>
          <a:xfrm>
            <a:off x="2618386" y="1633698"/>
            <a:ext cx="1828800" cy="6924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87878"/>
                </a:solidFill>
                <a:latin typeface="Arial"/>
              </a:defRPr>
            </a:pPr>
            <a:r>
              <a:rPr sz="1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Pathway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i="1">
                <a:solidFill>
                  <a:srgbClr val="787878"/>
                </a:solidFill>
                <a:latin typeface="Arial"/>
              </a:defRPr>
            </a:pPr>
            <a:r>
              <a:rPr sz="1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incidence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i="1">
                <a:solidFill>
                  <a:srgbClr val="787878"/>
                </a:solidFill>
                <a:latin typeface="Arial"/>
              </a:defRPr>
            </a:pPr>
            <a:r>
              <a:rPr sz="1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substance use</a:t>
            </a:r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2405FA89-BDAB-B6C0-2E61-B1562FB3BDEB}"/>
              </a:ext>
            </a:extLst>
          </p:cNvPr>
          <p:cNvSpPr/>
          <p:nvPr/>
        </p:nvSpPr>
        <p:spPr>
          <a:xfrm>
            <a:off x="5565084" y="3143559"/>
            <a:ext cx="877329" cy="41148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rial"/>
              </a:defRPr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DD2496-7F32-D50B-45C7-9AFB64FCDFB5}"/>
              </a:ext>
            </a:extLst>
          </p:cNvPr>
          <p:cNvSpPr txBox="1"/>
          <p:nvPr/>
        </p:nvSpPr>
        <p:spPr>
          <a:xfrm>
            <a:off x="2545813" y="4094005"/>
            <a:ext cx="1828800" cy="6924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87878"/>
                </a:solidFill>
                <a:latin typeface="Arial"/>
              </a:defRPr>
            </a:pPr>
            <a:r>
              <a:rPr sz="1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Pathway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i="1">
                <a:solidFill>
                  <a:srgbClr val="787878"/>
                </a:solidFill>
                <a:latin typeface="Arial"/>
              </a:defRPr>
            </a:pPr>
            <a:r>
              <a:rPr sz="1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incidence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i="1">
                <a:solidFill>
                  <a:srgbClr val="787878"/>
                </a:solidFill>
                <a:latin typeface="Arial"/>
              </a:defRPr>
            </a:pPr>
            <a:r>
              <a:rPr sz="1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substance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86</Words>
  <Application>Microsoft Macintosh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Mengjun Ge</cp:lastModifiedBy>
  <cp:revision>2</cp:revision>
  <dcterms:created xsi:type="dcterms:W3CDTF">2013-01-27T09:14:16Z</dcterms:created>
  <dcterms:modified xsi:type="dcterms:W3CDTF">2026-06-16T16:30:21Z</dcterms:modified>
  <cp:category/>
</cp:coreProperties>
</file>